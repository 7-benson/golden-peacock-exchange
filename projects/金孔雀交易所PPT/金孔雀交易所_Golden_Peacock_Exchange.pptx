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635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914400"/>
            <a:ext cx="2103120" cy="210312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1280160"/>
            <a:ext cx="1371600" cy="13716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0" y="1737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537"/>
                </a:solidFill>
                <a:latin typeface="Microsoft YaHei"/>
              </a:defRPr>
            </a:pPr>
            <a:r>
              <a:t>金孔雀交易所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GOLDEN PEACOCK EXCHANGE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846320"/>
            <a:ext cx="3047695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东南亚RWA资产发行平台  —  泰国房地产RWA首发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D060"/>
                </a:solidFill>
                <a:latin typeface="Microsoft YaHei"/>
              </a:defRPr>
            </a:pPr>
            <a:r>
              <a:t>链接实体资产 · 开启RWA新纪元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2/16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solidFill>
            <a:srgbClr val="22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D060"/>
                </a:solidFill>
                <a:latin typeface="Microsoft YaHei"/>
              </a:defRPr>
            </a:pPr>
            <a:r>
              <a:t>东南亚首个专注房地产RWA的合规资产发行与交易平台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329184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🎯 首个标的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泰国芭提雅核心区</a:t>
            </a:r>
            <a:br/>
            <a:r>
              <a:t>房地产RWA项目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29184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💰 发行规模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具体金额待定</a:t>
            </a:r>
            <a:br/>
            <a:r>
              <a:t>（根据资产估值确定）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29184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🏢 资产方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环球国际资产管理公司</a:t>
            </a:r>
            <a:br/>
            <a:r>
              <a:t>优质底层资产提供方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项目愿景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让全球投资者低门槛参与东南亚优质不动产投资，实现资产跨境自由流动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行业背景 — RWA市场爆发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Real World Assets: The Next Crypto Frontier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3/16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什么是RWA？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Real World Assets（真实世界资产）</a:t>
            </a:r>
            <a:br/>
            <a:r>
              <a:t>将房地产、债券、大宗商品等实体</a:t>
            </a:r>
            <a:br/>
            <a:r>
              <a:t>资产进行代币化并上链流通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18288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市场数据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RWA市场2025年突破多亿美元规模</a:t>
            </a:r>
            <a:br/>
            <a:r>
              <a:t>• 全球代币化资产预计2030年</a:t>
            </a:r>
            <a:br/>
            <a:r>
              <a:t>  达数万亿至十万亿美元级别</a:t>
            </a:r>
            <a:br/>
            <a:r>
              <a:t>• 头部机构纷纷布局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029200" cy="22860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为什么是RWA？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✅ 传统资产流动性差 → 代币化提升流动性</a:t>
            </a:r>
            <a:br/>
            <a:r>
              <a:t>✅ 投资门槛高 → 碎片化降低门槛</a:t>
            </a:r>
            <a:br/>
            <a:r>
              <a:t>✅ 跨境交易难 → 链上全球自由流通</a:t>
            </a:r>
            <a:br/>
            <a:r>
              <a:t>✅ 透明度低 → 智能合约自动执行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029200" cy="22860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核心驱动力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🚀 区块链技术成熟</a:t>
            </a:r>
            <a:br/>
            <a:r>
              <a:t>📋 各国监管政策清晰化</a:t>
            </a:r>
            <a:br/>
            <a:r>
              <a:t>🌍 全球通胀下的资产配置需求</a:t>
            </a:r>
            <a:br/>
            <a:r>
              <a:t>🏦 机构资金大举入场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市场机遇 — 东南亚RWA蓝海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Southeast Asia: The Untapped RWA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4/16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21031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东南亚独特优势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📈 高经济增长 + 持续外资流入</a:t>
            </a:r>
            <a:br/>
            <a:r>
              <a:t>✈️ 旅游业强劲复苏</a:t>
            </a:r>
            <a:br/>
            <a:r>
              <a:t>🏠 泰国房地产对外国人购买有限制</a:t>
            </a:r>
            <a:br/>
            <a:r>
              <a:t>   → 代币化提供合规投资通道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21031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芭提雅房产基本面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🌊 年游客超千万人次</a:t>
            </a:r>
            <a:br/>
            <a:r>
              <a:t>💰 租金回报率 4%-8%</a:t>
            </a:r>
            <a:br/>
            <a:r>
              <a:t>🏖️ 一线海景公寓需求旺盛</a:t>
            </a:r>
            <a:br/>
            <a:r>
              <a:t>🛣️ 基建持续升级中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22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空白市场机会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Microsoft YaHei"/>
              </a:defRPr>
            </a:pPr>
            <a:r>
              <a:t>东南亚专业RWA交易所稀缺 → 金孔雀交易所抢占先机，成为区域首家专注房地产RWA的合规平台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486400"/>
            <a:ext cx="4846320" cy="6400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5532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先发优势 — 蓝海市场第一梯队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平台定位与核心价值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Platform Positioning &amp;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5/16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金孔雀交易所定位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RWA资产的「发行 + 交易 + 管理」一体化平台 — 专注东南亚房地产RWA赛道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2468880" cy="22860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🔑 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持牌运营</a:t>
            </a:r>
            <a:br/>
            <a:r>
              <a:t>严格KYC/AML体系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200400"/>
            <a:ext cx="2468880" cy="22860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🔑 真实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资产严格尽调</a:t>
            </a:r>
            <a:br/>
            <a:r>
              <a:t>链上锚定线下产权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2468880" cy="22860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🔑 低门槛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最小投资单位大幅降低</a:t>
            </a:r>
            <a:br/>
            <a:r>
              <a:t>碎片化普惠投资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200400"/>
            <a:ext cx="2468880" cy="22860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🔑 高流动性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31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二级市场交易</a:t>
            </a:r>
            <a:br/>
            <a:r>
              <a:t>T+0灵活退出机制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首个标的 — 芭提雅房地产RWA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First RWA Asset: Pattaya Real Estate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6/16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标的资产信息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📍 位置：芭提雅核心区（中天海滩 / 帕山区 / 纳哥路）</a:t>
            </a:r>
            <a:br/>
            <a:r>
              <a:t>🏠 类型：高端海景公寓 / 度假酒店综合项目</a:t>
            </a:r>
            <a:br/>
            <a:r>
              <a:t>📐 规模：待具体确认（建筑面积 / 单位数量 / 估值）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芭提雅区位优势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🚄 曼谷EEC高铁1小时直达</a:t>
            </a:r>
            <a:br/>
            <a:r>
              <a:t>✈️ 乌塔堡机场扩建中</a:t>
            </a:r>
            <a:br/>
            <a:r>
              <a:t>🏗️ 大型基建项目密集落地</a:t>
            </a:r>
            <a:br/>
            <a:r>
              <a:t>🛍️ 商业配套持续升级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资产亮点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💰 稳定租金现金流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旅游复苏带动入住率</a:t>
            </a:r>
            <a:br/>
            <a:r>
              <a:t>预期年化租金回报 5-8%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11480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📈 长期增值潜力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54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芭提雅升级为城市</a:t>
            </a:r>
            <a:br/>
            <a:r>
              <a:t>土地价值持续攀升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⚖️ 产权清晰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法律结构完善</a:t>
            </a:r>
            <a:br/>
            <a:r>
              <a:t>SPV持有产权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11480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🛡️ 专业管理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7548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环球国际资产管理</a:t>
            </a:r>
            <a:br/>
            <a:r>
              <a:t>全流程资产服务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资产方 — 环球国际资产管理公司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Asset Partner: Global International Asset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7/16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公司简介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环球国际资产管理公司</a:t>
            </a:r>
            <a:br/>
            <a:r>
              <a:t>深耕泰国不动产领域多年</a:t>
            </a:r>
            <a:br/>
            <a:r>
              <a:t>拥有丰富的本地资源和项目经验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🌐 本地资源：泰国房地产收购与开发经验丰富</a:t>
            </a:r>
            <a:br/>
            <a:r>
              <a:t>✅ 合规能力：熟悉BOI、土地法、外商投资法规</a:t>
            </a:r>
            <a:br/>
            <a:r>
              <a:t>🏗️ 项目储备：芭提雅多个优质项目资源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29200" cy="13716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合作模式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作为RWA的底层资产提供方与资产服务方</a:t>
            </a:r>
            <a:br/>
            <a:r>
              <a:t>负责标的筛选、收购及后续管理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029200" cy="13716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资质背书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泰国本地相关运营牌照</a:t>
            </a:r>
            <a:br/>
            <a:r>
              <a:t>• 业内知名合作伙伴</a:t>
            </a:r>
            <a:br/>
            <a:r>
              <a:t>• 成熟的项目管理团队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RWA产品结构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RWA Product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8/16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D06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资产收购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筛选并收购</a:t>
            </a:r>
            <a:br/>
            <a:r>
              <a:t>优质标的资产</a:t>
            </a:r>
          </a:p>
        </p:txBody>
      </p:sp>
      <p:sp>
        <p:nvSpPr>
          <p:cNvPr id="12" name="Oval 11"/>
          <p:cNvSpPr/>
          <p:nvPr/>
        </p:nvSpPr>
        <p:spPr>
          <a:xfrm>
            <a:off x="2834640" y="1645920"/>
            <a:ext cx="640080" cy="64008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D06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法律确权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834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确权+法律意见书</a:t>
            </a:r>
            <a:br/>
            <a:r>
              <a:t>产权清晰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1645920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D06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资产估值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834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第三方独立</a:t>
            </a:r>
            <a:br/>
            <a:r>
              <a:t>专业估值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1645920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D06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SPV架构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SPV持有资产</a:t>
            </a:r>
            <a:br/>
            <a:r>
              <a:t>隔离风险</a:t>
            </a:r>
          </a:p>
        </p:txBody>
      </p:sp>
      <p:sp>
        <p:nvSpPr>
          <p:cNvPr id="27" name="Oval 26"/>
          <p:cNvSpPr/>
          <p:nvPr/>
        </p:nvSpPr>
        <p:spPr>
          <a:xfrm>
            <a:off x="8595360" y="1645920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D06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代币发行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34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RWA代币化</a:t>
            </a:r>
            <a:br/>
            <a:r>
              <a:t>合规发行</a:t>
            </a:r>
          </a:p>
        </p:txBody>
      </p:sp>
      <p:sp>
        <p:nvSpPr>
          <p:cNvPr id="32" name="Oval 31"/>
          <p:cNvSpPr/>
          <p:nvPr/>
        </p:nvSpPr>
        <p:spPr>
          <a:xfrm>
            <a:off x="10515600" y="1645920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上架交易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834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二级市场</a:t>
            </a:r>
            <a:br/>
            <a:r>
              <a:t>T+0交易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solidFill>
            <a:srgbClr val="22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代币设计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297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每枚代币对应实物资产的一定份额（如1㎡房产权益）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收益分为：租金分红 + 资产增值分红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基于币安链智能合约自动分配收益，透明可查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法律结构：SPV持有资产，代币代表SPV权益份额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Microsoft YaHei"/>
              </a:defRPr>
            </a:pPr>
            <a:r>
              <a:t>▸ BEP-20代币标准，兼容主流DEX/钱包生态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Technology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9/16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底层公链 — 币安链（BNB Chain）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采用BNB Chain（币安智能链）作为底层基础设施</a:t>
            </a:r>
            <a:br/>
            <a:r>
              <a:t>• BEP-20代币标准，高吞吐量（~300 TPS），低交易费（&lt;0.1$）</a:t>
            </a:r>
            <a:br/>
            <a:r>
              <a:t>• 成熟的DeFi生态与DEX基础设施，支持PancakeSwap等主流协议集成</a:t>
            </a:r>
            <a:br/>
            <a:r>
              <a:t>• 全球节点数最多（40+验证节点），社群活跃，开发者生态完善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2560320" cy="18288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📦 资产发行模块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RWA代币化发行工具</a:t>
            </a:r>
            <a:br/>
            <a:r>
              <a:t>BEP-20合规代币铸造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91840"/>
            <a:ext cx="2560320" cy="18288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🔄 交易模块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订单簿 + DEX混合撮合</a:t>
            </a:r>
            <a:br/>
            <a:r>
              <a:t>支持PancakeSwap流动性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2560320" cy="18288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🔐 资产管理模块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KYC / 合规审查</a:t>
            </a:r>
            <a:br/>
            <a:r>
              <a:t>链上资产存证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291840"/>
            <a:ext cx="2560320" cy="18288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💸 收益分发模块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9319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智能合约自动分红</a:t>
            </a:r>
            <a:br/>
            <a:r>
              <a:t>链上实时可查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安全审计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43600"/>
            <a:ext cx="101498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第三方智能合约代码审计  |  币安链生态安全标准  |  多重签名钱包  |  定期安全巡检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合规与监管框架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Regulatory &amp; Compliance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10/16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监管合规策略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🛡️ 持有或申请目标地区合规牌照</a:t>
            </a:r>
            <a:br/>
            <a:r>
              <a:t>🔍 严格KYC/AML体系（三级身份认证）</a:t>
            </a:r>
            <a:br/>
            <a:r>
              <a:t>📊 每季度资产审计与透明度报告</a:t>
            </a:r>
            <a:br/>
            <a:r>
              <a:t>👮 反洗钱内控制度完善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法律保障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⚖️ 泰国本地律所出具法律意见书</a:t>
            </a:r>
            <a:br/>
            <a:r>
              <a:t>📋 SPV架构满足外商投资法规</a:t>
            </a:r>
            <a:br/>
            <a:r>
              <a:t>👥 投资者权益保护机制完善</a:t>
            </a:r>
            <a:br/>
            <a:r>
              <a:t>🌏 符合国际合规标准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2560320" cy="7315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✅ KYC/AML合规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114800"/>
            <a:ext cx="2560320" cy="7315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✅ 季度审计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800"/>
            <a:ext cx="2560320" cy="7315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✅ 法律意见书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114800"/>
            <a:ext cx="2560320" cy="7315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✅ 投资者保护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代币经济模型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Tokenomics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11/16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代币符号：待定（如 GPC / GPE）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1498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平台通证，承载交易、治理与生态价值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3017520" cy="11887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房地产RWA发行池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651760"/>
            <a:ext cx="3017520" cy="11887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流动性储备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651760"/>
            <a:ext cx="3017520" cy="1188720"/>
          </a:xfrm>
          <a:prstGeom prst="roundRect">
            <a:avLst/>
          </a:prstGeom>
          <a:solidFill>
            <a:srgbClr val="1A2A3E"/>
          </a:solidFill>
          <a:ln w="127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537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团队/运营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其他分配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市场推广：10%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社区激励：5%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代币价值捕获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交易手续费折扣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平台治理投票权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新RWA项目优先认购权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投资者收益模型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Investor Returns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12/16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基于币安链（BNB Chain）的RWA生态，实现链上收益自动分发与二级市场无缝交易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🏠 租金分红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季度发放</a:t>
            </a:r>
            <a:br/>
            <a:r>
              <a:t>预期年化 5-8%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29184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📈 资产增值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标的升值带来的</a:t>
            </a:r>
            <a:br/>
            <a:r>
              <a:t>代币价格增长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291840" cy="16459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💹 二级交易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流动性溢价</a:t>
            </a:r>
            <a:br/>
            <a:r>
              <a:t>折价套利机会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37"/>
                </a:solidFill>
                <a:latin typeface="Microsoft YaHei"/>
              </a:defRPr>
            </a:pPr>
            <a:r>
              <a:t>退出机制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▸ 🔄 二级市场直接卖出 — T+0灵活退出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▸ 🛒 定期回购 — 资产方承诺回购机制（具体条件以协议为准）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solidFill>
            <a:srgbClr val="3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⚠️ 风险提示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市场波动风险 | 汇率风险 | 资产流动性风险 | 政策监管风险 | 投资有风险，决策需谨慎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风控与资产安全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Risk Control &amp; Asset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13/16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1A2A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第一层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底层资产尽调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第三方专业评估机构</a:t>
            </a:r>
            <a:br/>
            <a:r>
              <a:t>实地尽调 + 独立估值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45920"/>
            <a:ext cx="2560320" cy="2103120"/>
          </a:xfrm>
          <a:prstGeom prst="roundRect">
            <a:avLst/>
          </a:prstGeom>
          <a:solidFill>
            <a:srgbClr val="1A2A3E"/>
          </a:solidFill>
          <a:ln w="25400">
            <a:solidFill>
              <a:srgbClr val="54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49BFF"/>
                </a:solidFill>
                <a:latin typeface="Microsoft YaHei"/>
              </a:defRPr>
            </a:pPr>
            <a:r>
              <a:t>第二层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法律合规审查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知名律所出具</a:t>
            </a:r>
            <a:br/>
            <a:r>
              <a:t>法律意见书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560320" cy="2103120"/>
          </a:xfrm>
          <a:prstGeom prst="roundRect">
            <a:avLst/>
          </a:prstGeom>
          <a:solidFill>
            <a:srgbClr val="1A2A3E"/>
          </a:solidFill>
          <a:ln w="254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37"/>
                </a:solidFill>
                <a:latin typeface="Microsoft YaHei"/>
              </a:defRPr>
            </a:pPr>
            <a:r>
              <a:t>第三层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智能合约审计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安全公司审计</a:t>
            </a:r>
            <a:br/>
            <a:r>
              <a:t>代码漏洞检测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560320" cy="2103120"/>
          </a:xfrm>
          <a:prstGeom prst="roundRect">
            <a:avLst/>
          </a:prstGeom>
          <a:solidFill>
            <a:srgbClr val="1A2A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第四层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资产托管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独立托管机构</a:t>
            </a:r>
            <a:br/>
            <a:r>
              <a:t>资产隔离保管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5029200" cy="11887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资产透明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🔍 链上资产数据实时可查</a:t>
            </a:r>
            <a:br/>
            <a:r>
              <a:t>📋 定期第三方审计报告公开</a:t>
            </a:r>
            <a:br/>
            <a:r>
              <a:t>📊 所有交易链上可追溯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029200" cy="118872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保险机制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54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🛡️ 底层资产投保</a:t>
            </a:r>
            <a:br/>
            <a:r>
              <a:t>🔒 防范意外风险</a:t>
            </a:r>
            <a:br/>
            <a:r>
              <a:t>✅ 全方位安全保障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发展路线图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14/16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51760" cy="8229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Phase 1 | Q2-Q3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D060"/>
                </a:solidFill>
                <a:latin typeface="Microsoft YaHei"/>
              </a:defRPr>
            </a:pPr>
            <a:r>
              <a:t>平台搭建 + 首个标的尽调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完成平台技术开发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芭提雅标的完成法律确权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获取合规资质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651760" cy="822960"/>
          </a:xfrm>
          <a:prstGeom prst="round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Phase 2 | 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D060"/>
                </a:solidFill>
                <a:latin typeface="Microsoft YaHei"/>
              </a:defRPr>
            </a:pPr>
            <a:r>
              <a:t>首个RWA发行 + 上线交易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芭提雅RWA正式发行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开放二级市场交易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启动全球社区建设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651760" cy="8229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Phase 3 |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D060"/>
                </a:solidFill>
                <a:latin typeface="Microsoft YaHei"/>
              </a:defRPr>
            </a:pPr>
            <a:r>
              <a:t>多资产上线 + 国际化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拓展至曼谷、普吉岛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引入商业地产等新RWA类型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申请更多地区合规牌照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5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45920"/>
            <a:ext cx="2651760" cy="822960"/>
          </a:xfrm>
          <a:prstGeom prst="roundRect">
            <a:avLst/>
          </a:prstGeom>
          <a:solidFill>
            <a:srgbClr val="2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Phase 4 | 2028+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D060"/>
                </a:solidFill>
                <a:latin typeface="Microsoft YaHei"/>
              </a:defRPr>
            </a:pPr>
            <a:r>
              <a:t>生态扩张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6517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东南亚最大RWA发行交易平台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建立RWA行业标准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37"/>
                </a:solidFill>
                <a:latin typeface="Microsoft YaHei"/>
              </a:defRPr>
            </a:pPr>
            <a:r>
              <a:t>核心团队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Core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15/16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👤 CEO / 创始人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待定</a:t>
            </a:r>
            <a:br/>
            <a:r>
              <a:t>行业背景丰富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👤 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待定</a:t>
            </a:r>
            <a:br/>
            <a:r>
              <a:t>技术负责人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👤 首席合规官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待定</a:t>
            </a:r>
            <a:br/>
            <a:r>
              <a:t>法律/合规背景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👤 首席运营官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待定</a:t>
            </a:r>
            <a:br/>
            <a:r>
              <a:t>运营/市场经验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303520" cy="13716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资产顾问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泰国房地产专家团队</a:t>
            </a:r>
            <a:br/>
            <a:r>
              <a:t>提供本地市场洞察与项目评估支持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31920"/>
            <a:ext cx="5029200" cy="1371600"/>
          </a:xfrm>
          <a:prstGeom prst="roundRect">
            <a:avLst/>
          </a:prstGeom>
          <a:solidFill>
            <a:srgbClr val="222E44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537"/>
                </a:solidFill>
                <a:latin typeface="Microsoft YaHei"/>
              </a:defRPr>
            </a:pPr>
            <a:r>
              <a:t>顾问团队（拟邀）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5720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区块链 / 金融 / 法律领域</a:t>
            </a:r>
            <a:br/>
            <a:r>
              <a:t>知名专家与机构顾问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35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537"/>
                </a:solidFill>
                <a:latin typeface="Microsoft YaHei"/>
              </a:defRPr>
            </a:pPr>
            <a:r>
              <a:t>金孔雀交易所  |  GOLDEN PEACOCK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核心信息回顾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✅ 专注东南亚房地产RWA的合规资产发行与交易平台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✅ 首个标的：芭提雅核心区高端房产RWA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✅ 资产方：环球国际资产管理公司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▸ ✅ 投资门槛低，流动性强，合规透明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537"/>
                </a:solidFill>
                <a:latin typeface="Microsoft YaHei"/>
              </a:defRPr>
            </a:pPr>
            <a:r>
              <a:t>合作邀约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欢迎机构投资者 · 资产方 · 合作伙伴 洽谈交流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846320"/>
            <a:ext cx="6705295" cy="914400"/>
          </a:xfrm>
          <a:prstGeom prst="rect">
            <a:avLst/>
          </a:prstGeom>
          <a:solidFill>
            <a:srgbClr val="22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93776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A537"/>
                </a:solidFill>
                <a:latin typeface="Microsoft YaHei"/>
              </a:defRPr>
            </a:pPr>
            <a:r>
              <a:t>联系方式（待定）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25780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官网 / 邮箱 / Telegram / 微信商务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D060"/>
                </a:solidFill>
                <a:latin typeface="Microsoft YaHei"/>
              </a:defRPr>
            </a:pPr>
            <a:r>
              <a:t>「让世界资产自由流动」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50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8860B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